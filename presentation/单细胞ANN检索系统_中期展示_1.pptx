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79" r:id="rId12"/>
    <p:sldId id="265" r:id="rId13"/>
    <p:sldId id="268" r:id="rId14"/>
    <p:sldId id="269" r:id="rId15"/>
    <p:sldId id="270" r:id="rId16"/>
    <p:sldId id="271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5" d="100"/>
          <a:sy n="165" d="100"/>
        </p:scale>
        <p:origin x="167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0000" y="1800000"/>
            <a:ext cx="7200000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DF7"/>
                </a:solidFill>
              </a:defRPr>
            </a:pPr>
            <a:r>
              <a:rPr dirty="0" err="1"/>
              <a:t>单细胞</a:t>
            </a:r>
            <a:r>
              <a:rPr dirty="0"/>
              <a:t> ANN </a:t>
            </a:r>
            <a:r>
              <a:rPr dirty="0" err="1"/>
              <a:t>检索系统</a:t>
            </a:r>
            <a:endParaRPr dirty="0"/>
          </a:p>
          <a:p>
            <a:pPr algn="ctr">
              <a:spcBef>
                <a:spcPts val="1600"/>
              </a:spcBef>
              <a:defRPr sz="1800">
                <a:solidFill>
                  <a:srgbClr val="C8D5CC"/>
                </a:solidFill>
              </a:defRPr>
            </a:pPr>
            <a:r>
              <a:rPr dirty="0" err="1"/>
              <a:t>基于</a:t>
            </a:r>
            <a:r>
              <a:rPr dirty="0"/>
              <a:t> FAISS </a:t>
            </a:r>
            <a:r>
              <a:rPr dirty="0" err="1"/>
              <a:t>的高效单细胞</a:t>
            </a:r>
            <a:r>
              <a:rPr dirty="0"/>
              <a:t> RNA </a:t>
            </a:r>
            <a:r>
              <a:rPr dirty="0" err="1"/>
              <a:t>测序数据相似性检索</a:t>
            </a:r>
            <a:endParaRPr dirty="0"/>
          </a:p>
          <a:p>
            <a:pPr>
              <a:spcBef>
                <a:spcPts val="3600"/>
              </a:spcBef>
            </a:pPr>
            <a:endParaRPr dirty="0"/>
          </a:p>
          <a:p>
            <a:pPr algn="ctr">
              <a:defRPr sz="1400">
                <a:solidFill>
                  <a:srgbClr val="B0C0B4"/>
                </a:solidFill>
              </a:defRPr>
            </a:pPr>
            <a:r>
              <a:rPr dirty="0"/>
              <a:t>21st Group · </a:t>
            </a:r>
            <a:r>
              <a:rPr dirty="0" err="1"/>
              <a:t>软件工程</a:t>
            </a:r>
            <a:endParaRPr lang="en-US" dirty="0"/>
          </a:p>
          <a:p>
            <a:pPr algn="ctr">
              <a:defRPr sz="1400">
                <a:solidFill>
                  <a:srgbClr val="B0C0B4"/>
                </a:solidFill>
              </a:defRPr>
            </a:pPr>
            <a:r>
              <a:rPr lang="zh-CN" altLang="en-US"/>
              <a:t>组员：杨乔钦、禹相祐、郭思达、田子煊、查科言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项目概述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问题背景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单细胞 RNA 测序数据量大（数万细胞 × 数万基因），高维稀疏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传统线性搜索在面对大规模数据时响应缓慢</a:t>
            </a:r>
          </a:p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解决方案：ANN 近似最近邻检索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使用 PCA 将基因表达降维到 30~50 维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利用 FAISS 构建 ANN 索引加速 Top-K 相似细胞查询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支持 Flat（精确）/ HNSW（图索引）/ IVF（倒排索引）三种索引</a:t>
            </a:r>
          </a:p>
          <a:p>
            <a:pPr lvl="1">
              <a:spcAft>
                <a:spcPts val="600"/>
              </a:spcAft>
              <a:defRPr sz="1400">
                <a:solidFill>
                  <a:srgbClr val="111814"/>
                </a:solidFill>
              </a:defRPr>
            </a:pPr>
            <a:r>
              <a:t>● 提供 Web 界面，支持可视化（UMAP/PCA）和管理功能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系统架构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72000" y="2050000"/>
            <a:ext cx="5400000" cy="480000"/>
          </a:xfrm>
          <a:prstGeom prst="roundRect">
            <a:avLst>
              <a:gd name="adj" fmla="val 10000"/>
            </a:avLst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前端 · 浏览器 (HTML + JS + Canvas)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53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72000" y="2710000"/>
            <a:ext cx="5400000" cy="480000"/>
          </a:xfrm>
          <a:prstGeom prst="roundRect">
            <a:avLst>
              <a:gd name="adj" fmla="val 1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Web 层 · Flask API (app.py)
/api/search   /api/status   /api/rebuild   /api/metadata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19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72000" y="3370000"/>
            <a:ext cx="5400000" cy="4800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业务层 · SearchService (search_service.py)
查询分发 · 结果格式化 · metadata 过滤 · 索引切换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2000" y="385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2000" y="385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72000" y="4030000"/>
            <a:ext cx="2550000" cy="48000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dirty="0" err="1">
                <a:solidFill>
                  <a:srgbClr val="FFFFFF"/>
                </a:solidFill>
                <a:latin typeface="Microsoft YaHei"/>
              </a:rPr>
              <a:t>ANNEngine</a:t>
            </a:r>
            <a:r>
              <a:rPr sz="1200" b="0" dirty="0">
                <a:solidFill>
                  <a:srgbClr val="FFFFFF"/>
                </a:solidFill>
                <a:latin typeface="Microsoft YaHei"/>
              </a:rPr>
              <a:t>
Flat / HNSW / IVF
(ann_engine.py)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2000" y="4030000"/>
            <a:ext cx="2550000" cy="48000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DataLoader
PCA · 归一化
(data_loader.py)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47000" y="451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97000" y="4510000"/>
            <a:ext cx="0" cy="18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72000" y="4690000"/>
            <a:ext cx="2550000" cy="360000"/>
          </a:xfrm>
          <a:prstGeom prst="roundRect">
            <a:avLst>
              <a:gd name="adj" fmla="val 10000"/>
            </a:avLst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FAISS 向量检索库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2000" y="4690000"/>
            <a:ext cx="2550000" cy="360000"/>
          </a:xfrm>
          <a:prstGeom prst="roundRect">
            <a:avLst>
              <a:gd name="adj" fmla="val 10000"/>
            </a:avLst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.h5ad 单细胞数据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205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</a:pPr>
            <a:r>
              <a:rPr sz="1400" b="1">
                <a:solidFill>
                  <a:srgbClr val="2B579A"/>
                </a:solidFill>
                <a:latin typeface="Microsoft YaHei"/>
              </a:rPr>
              <a:t>分 层 架 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数据处理流程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Data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原始 .h5ad 单细胞数据 → 预处理 → PCA 降维 → L2 归一化 → FAISS 索引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1. 数据读取：load_h5ad() 读取 AnnData 对象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检查 .h5ad 文件和 X_pca 是否已存在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2. 预处理（如无 X_pca）：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normalize_total → log1p → highly_variable_genes → scale → PCA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默认使用 Top-2000 高变基因，计算 50 个主成分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3. L2 归一化：l2_normalize() 将所有向量归一化为单位向量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内积 = 余弦相似度（FAISS 标准做法）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4. 索引构建：ANNEngine.build_index()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Flat: 精确检索，O(n) 线性扫描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HNSW: 分层图，O(log n) 近似检索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   ● IVF: 倒排索引，聚类中心 + 桶内搜索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三种索引对比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Flat · HNSW · IVF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980000"/>
          <a:ext cx="792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4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Flat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HNSW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IVF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算法类型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精确暴力搜索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分层可导航小世界图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倒排文件索引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查询复杂度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O(√n)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是否需要训练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是（需 k-means）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召回率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1.0（精确）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≈ 1.0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≈ 1.0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小数据集 + 精度要求极高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中等数据集 + 低延迟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大数据集 + 内存敏感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4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我们的数据表现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0.58 ms/查询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0.09 ms/查询（6× 加速）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0.14 ms/查询（4× 加速）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索引构建性能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Build Time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2000000"/>
            <a:ext cx="770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查询延迟 (Top-K)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Query Latency by Top-K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7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2000000"/>
            <a:ext cx="770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召回率与延迟权衡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Recall vs Latency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900000"/>
            <a:ext cx="82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Web 界面功能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Web Interface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600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rPr dirty="0"/>
              <a:t>🔐 </a:t>
            </a:r>
            <a:r>
              <a:rPr dirty="0" err="1"/>
              <a:t>用户系统</a:t>
            </a:r>
            <a:endParaRPr dirty="0"/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rPr dirty="0"/>
              <a:t>● </a:t>
            </a:r>
            <a:r>
              <a:rPr dirty="0" err="1"/>
              <a:t>登录</a:t>
            </a:r>
            <a:r>
              <a:rPr dirty="0"/>
              <a:t> / </a:t>
            </a:r>
            <a:r>
              <a:rPr dirty="0" err="1"/>
              <a:t>注册</a:t>
            </a:r>
            <a:endParaRPr dirty="0"/>
          </a:p>
          <a:p>
            <a:pPr lvl="1"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r>
              <a:rPr dirty="0"/>
              <a:t>● </a:t>
            </a:r>
            <a:r>
              <a:rPr dirty="0" err="1"/>
              <a:t>管理员权限分级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111814"/>
                </a:solidFill>
              </a:defRPr>
            </a:pPr>
            <a:endParaRPr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7621BA6-5B32-4042-9AEC-69EC5D41B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002" y="1872000"/>
            <a:ext cx="3681384" cy="18294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6F9EC0A-684D-4319-A100-6158395F9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002" y="4090506"/>
            <a:ext cx="3681383" cy="23257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F8FB805-F352-405C-B724-1D7821F48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86" y="4090506"/>
            <a:ext cx="4187216" cy="23257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DF7"/>
                </a:solidFill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DF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界面功能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D0D8D2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D0D8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Interface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5F6D63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F6D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6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11181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🔍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三种检索方式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11181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按细胞编号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11181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按真实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cell_id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11181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按自定义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PCA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向量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11181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98096AA-2F85-4A2F-AABF-B06EF821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72000"/>
            <a:ext cx="3854369" cy="217935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DC3371F-BDED-4A68-B4E1-625FC6186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405" y="4081232"/>
            <a:ext cx="3903562" cy="239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1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DF7"/>
                </a:solidFill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DF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界面功能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D0D8D2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D0D8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Interface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5F6D63"/>
                </a:solidFill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F6D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000" y="2079886"/>
            <a:ext cx="36000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📊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结果展示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Top-K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结果表格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耗时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筛选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UMAP/PCA canvas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可视化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1181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● 检索结果高亮标注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111814"/>
                </a:solidFill>
              </a:defRPr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11814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E777AB-1065-4A47-8D96-4A0DCA3A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446" y="2052000"/>
            <a:ext cx="5642658" cy="26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13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测试与质量保障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6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测试统计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测试文件：8 个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基础测试（不含真实数据）：90 个 ✅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真实数据测试（liver.h5ad）：12 个 ✅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总计：102 个测试，全部通过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代码覆盖率：76%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测试层次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单元测试：核心模块独立验证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集成测试：真实组件端到端流程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真实数据测试：HNSW/IVF recall 验证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benchmark：性能基准评测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453611"/>
              </p:ext>
            </p:extLst>
          </p:nvPr>
        </p:nvGraphicFramePr>
        <p:xfrm>
          <a:off x="4824002" y="2176770"/>
          <a:ext cx="3327970" cy="3408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85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rPr dirty="0" err="1"/>
                        <a:t>模块</a:t>
                      </a:r>
                      <a:endParaRPr dirty="0"/>
                    </a:p>
                  </a:txBody>
                  <a:tcPr>
                    <a:solidFill>
                      <a:srgbClr val="0F6F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DF7"/>
                          </a:solidFill>
                        </a:defRPr>
                      </a:pPr>
                      <a:r>
                        <a:t>覆盖率</a:t>
                      </a:r>
                    </a:p>
                  </a:txBody>
                  <a:tcPr>
                    <a:solidFill>
                      <a:srgbClr val="0F6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8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ann_engine.py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rPr dirty="0"/>
                        <a:t>90%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8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rPr dirty="0"/>
                        <a:t>dataset_manager.py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rPr dirty="0"/>
                        <a:t>100%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8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rPr dirty="0"/>
                        <a:t>db.py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rPr dirty="0"/>
                        <a:t>98%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8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search_service.py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8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user_service.py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8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t>data_loader.py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14"/>
                          </a:solidFill>
                        </a:defRPr>
                      </a:pPr>
                      <a:r>
                        <a:rPr dirty="0"/>
                        <a:t>40%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Microsoft YaHei"/>
              </a:rPr>
              <a:t>测试总览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 — </a:t>
            </a:r>
            <a:r>
              <a:rPr sz="2800" b="1" dirty="0" err="1">
                <a:solidFill>
                  <a:srgbClr val="FFFFFF"/>
                </a:solidFill>
                <a:latin typeface="Microsoft YaHei"/>
              </a:rPr>
              <a:t>关键指标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0000" y="2050000"/>
            <a:ext cx="1700000" cy="7200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102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测试总数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0000" y="2050000"/>
            <a:ext cx="1700000" cy="7200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100%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通过率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0000" y="2050000"/>
            <a:ext cx="1700000" cy="72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76%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代码覆盖率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000" y="2050000"/>
            <a:ext cx="1700000" cy="720000"/>
          </a:xfrm>
          <a:prstGeom prst="roundRect">
            <a:avLst>
              <a:gd name="adj" fmla="val 8000"/>
            </a:avLst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~33s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执行时间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000" y="3100000"/>
            <a:ext cx="50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000" y="3100000"/>
            <a:ext cx="3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B579A"/>
                </a:solidFill>
                <a:latin typeface="Microsoft YaHei"/>
              </a:rPr>
              <a:t>测试文件分布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80000"/>
            <a:ext cx="3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📋 单元测试（4 文件）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test_ann_engine.py — 18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test_data_loader.py — 2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test_search_service.py — 12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test_user_service.py — 2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000" y="3480000"/>
            <a:ext cx="3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🔗 集成测试（3 文件）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test_integration_search.py — 23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test_app.py — 18 个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test_dataset_manager.py — 15 个</a:t>
            </a:r>
          </a:p>
          <a:p>
            <a:pPr algn="l">
              <a:lnSpc>
                <a:spcPts val="1080"/>
              </a:lnSpc>
            </a:pPr>
            <a:endParaRPr sz="1100" b="0">
              <a:solidFill>
                <a:srgbClr val="666666"/>
              </a:solidFill>
              <a:latin typeface="Microsoft YaHei"/>
            </a:endParaRPr>
          </a:p>
          <a:p>
            <a:pPr algn="l">
              <a:lnSpc>
                <a:spcPts val="1755"/>
              </a:lnSpc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🧬 真实数据测试（1 文件）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test_real_data.py — 12 个</a:t>
            </a:r>
          </a:p>
          <a:p>
            <a:pPr algn="l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  数据集: data/liver.h5ad (69,032 细胞)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" y="5900000"/>
            <a:ext cx="8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测试框架: pytest 9.0.3  ·  Python 3.11.9  ·  运行方式: run_tests.py quick / full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Microsoft YaHei"/>
              </a:rPr>
              <a:t>测试明细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 — </a:t>
            </a:r>
            <a:r>
              <a:rPr sz="2800" b="1" dirty="0" err="1">
                <a:solidFill>
                  <a:srgbClr val="FFFFFF"/>
                </a:solidFill>
                <a:latin typeface="Microsoft YaHei"/>
              </a:rPr>
              <a:t>单元与集成测试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0000" y="1950000"/>
            <a:ext cx="50000" cy="3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000" y="195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Microsoft YaHei"/>
              </a:rPr>
              <a:t>单元测试明细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2350000"/>
          <a:ext cx="7320000" cy="138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测试文件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覆盖内容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test_ann_engine.py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Flat/HNSW/IVF 构建与检索、索引保存/加载、metadata 校验、边界条件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test_data_loader.py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L2 归一化、元数据提取、DatasetSummary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test_search_service.py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三种检索方式、metadata 过滤、NaN→null、边界错误处理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test_user_service.py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数据库初始化、用户注册/登录/删除/权限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0000" y="4400000"/>
            <a:ext cx="50000" cy="30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000" y="440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Microsoft YaHei"/>
              </a:rPr>
              <a:t>集成测试明细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0000" y="4800000"/>
          <a:ext cx="7320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测试文件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覆盖内容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test_integration_search.py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ANNEngine 三类索引完整流程、索引 round-trip、SearchService 端到端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test_app.py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Flask API 全部路由、权限校验、错误输入处理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test_dataset_manager.py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DB schema 验证、CRUD、active 切换、异常处理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Microsoft YaHei"/>
              </a:rPr>
              <a:t>代码覆盖率分析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0000" y="1950000"/>
            <a:ext cx="50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000" y="195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B579A"/>
                </a:solidFill>
                <a:latin typeface="Microsoft YaHei"/>
              </a:rPr>
              <a:t>src/ 目录覆盖率明细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2350000"/>
          <a:ext cx="74000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语句数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已覆盖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覆盖率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评级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ann_engine.py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90%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dataset_manager.py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db.py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98%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user_service.py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search_service.py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66%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data_loader.py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总计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442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76%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700000"/>
            <a:ext cx="8000000" cy="28000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0000" y="4700000"/>
            <a:ext cx="6080000" cy="28000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000" y="4730000"/>
            <a:ext cx="8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76% 总体覆盖率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150000"/>
            <a:ext cx="8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</a:pPr>
            <a:r>
              <a:rPr sz="1400" b="1">
                <a:solidFill>
                  <a:srgbClr val="1A3C6E"/>
                </a:solidFill>
                <a:latin typeface="Microsoft YaHei"/>
              </a:rPr>
              <a:t>📌 覆盖率说明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● ann_engine.py (90%): 核心检索引擎，三种索引的构建/查询/序列化全覆盖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● search_service.py (66%): 部分分支未覆盖（索引缓存命中/未命中路径、rebuild_index 等）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● data_loader.py (40%): 依赖真实 .h5ad 文件和 scanpy 预处理，已在 test_real_data.py 中间接验证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Microsoft YaHei"/>
              </a:rPr>
              <a:t>性能基准测试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 — </a:t>
            </a:r>
            <a:r>
              <a:rPr sz="2800" b="1" dirty="0" err="1">
                <a:solidFill>
                  <a:srgbClr val="FFFFFF"/>
                </a:solidFill>
                <a:latin typeface="Microsoft YaHei"/>
              </a:rPr>
              <a:t>真实数据集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19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85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数据集: data/liver.h5ad  ·  69,032 个细胞  ·  30 维 PCA  ·  10 个查询细胞取平均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2200000"/>
            <a:ext cx="50000" cy="30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000" y="220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Microsoft YaHei"/>
              </a:rPr>
              <a:t>索引构建性能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0000" y="2600000"/>
          <a:ext cx="6600000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索引类型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构建耗时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峰值内存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Flat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2.39 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18.30 MB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IVF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93.87 ms（39×）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15.22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HNSW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454.08 ms（190×）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~0 MB（增量）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0000" y="3700000"/>
            <a:ext cx="50000" cy="300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000" y="370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D72C7"/>
                </a:solidFill>
                <a:latin typeface="Microsoft YaHei"/>
              </a:rPr>
              <a:t>查询延迟（ms，越小越好）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546176"/>
              </p:ext>
            </p:extLst>
          </p:nvPr>
        </p:nvGraphicFramePr>
        <p:xfrm>
          <a:off x="560000" y="4100000"/>
          <a:ext cx="40119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Top-K</a:t>
                      </a:r>
                    </a:p>
                  </a:txBody>
                  <a:tcPr>
                    <a:solidFill>
                      <a:srgbClr val="3D7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Flat (ms)</a:t>
                      </a:r>
                    </a:p>
                  </a:txBody>
                  <a:tcPr>
                    <a:solidFill>
                      <a:srgbClr val="3D7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HNSW (ms)</a:t>
                      </a:r>
                    </a:p>
                  </a:txBody>
                  <a:tcPr>
                    <a:solidFill>
                      <a:srgbClr val="3D7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IVF (ms)</a:t>
                      </a:r>
                    </a:p>
                  </a:txBody>
                  <a:tcPr>
                    <a:solidFill>
                      <a:srgbClr val="3D7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0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0.664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0.152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0.224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0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0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0.585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0.093 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0.135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0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0.087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0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0.578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0.084 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0.186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05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680000" y="3700000"/>
            <a:ext cx="50000" cy="3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0000" y="3700000"/>
            <a:ext cx="3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Microsoft YaHei"/>
              </a:rPr>
              <a:t>召回率（vs Flat）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525206"/>
              </p:ext>
            </p:extLst>
          </p:nvPr>
        </p:nvGraphicFramePr>
        <p:xfrm>
          <a:off x="4680000" y="4100000"/>
          <a:ext cx="38040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Top-K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HNSW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IVF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1-50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Microsoft YaHe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33333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4000" y="5881520"/>
            <a:ext cx="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1" dirty="0">
                <a:solidFill>
                  <a:srgbClr val="1A3C6E"/>
                </a:solidFill>
                <a:latin typeface="Microsoft YaHei"/>
              </a:rPr>
              <a:t>💡 </a:t>
            </a:r>
            <a:r>
              <a:rPr sz="1200" b="1" dirty="0" err="1">
                <a:solidFill>
                  <a:srgbClr val="1A3C6E"/>
                </a:solidFill>
                <a:latin typeface="Microsoft YaHei"/>
              </a:rPr>
              <a:t>结论</a:t>
            </a:r>
            <a:r>
              <a:rPr sz="1200" b="1" dirty="0">
                <a:solidFill>
                  <a:srgbClr val="1A3C6E"/>
                </a:solidFill>
                <a:latin typeface="Microsoft YaHei"/>
              </a:rPr>
              <a:t>: HNSW </a:t>
            </a:r>
            <a:r>
              <a:rPr sz="1200" b="1" dirty="0" err="1">
                <a:solidFill>
                  <a:srgbClr val="1A3C6E"/>
                </a:solidFill>
                <a:latin typeface="Microsoft YaHei"/>
              </a:rPr>
              <a:t>是最佳选择</a:t>
            </a:r>
            <a:r>
              <a:rPr sz="1200" b="1" dirty="0">
                <a:solidFill>
                  <a:srgbClr val="1A3C6E"/>
                </a:solidFill>
                <a:latin typeface="Microsoft YaHei"/>
              </a:rPr>
              <a:t> — </a:t>
            </a:r>
            <a:r>
              <a:rPr sz="1200" b="1" dirty="0" err="1">
                <a:solidFill>
                  <a:srgbClr val="1A3C6E"/>
                </a:solidFill>
                <a:latin typeface="Microsoft YaHei"/>
              </a:rPr>
              <a:t>查询最快</a:t>
            </a:r>
            <a:r>
              <a:rPr sz="1200" b="1" dirty="0">
                <a:solidFill>
                  <a:srgbClr val="1A3C6E"/>
                </a:solidFill>
                <a:latin typeface="Microsoft YaHei"/>
              </a:rPr>
              <a:t>（~0.09 </a:t>
            </a:r>
            <a:r>
              <a:rPr sz="1200" b="1" dirty="0" err="1">
                <a:solidFill>
                  <a:srgbClr val="1A3C6E"/>
                </a:solidFill>
                <a:latin typeface="Microsoft YaHei"/>
              </a:rPr>
              <a:t>ms</a:t>
            </a:r>
            <a:r>
              <a:rPr sz="1200" b="1" dirty="0">
                <a:solidFill>
                  <a:srgbClr val="1A3C6E"/>
                </a:solidFill>
                <a:latin typeface="Microsoft YaHei"/>
              </a:rPr>
              <a:t>），recall </a:t>
            </a:r>
            <a:r>
              <a:rPr sz="1200" b="1" dirty="0" err="1">
                <a:solidFill>
                  <a:srgbClr val="1A3C6E"/>
                </a:solidFill>
                <a:latin typeface="Microsoft YaHei"/>
              </a:rPr>
              <a:t>接近完美，适合线上服务</a:t>
            </a:r>
            <a:endParaRPr sz="1200" b="1" dirty="0">
              <a:solidFill>
                <a:srgbClr val="1A3C6E"/>
              </a:solidFill>
              <a:latin typeface="Microsoft YaHei"/>
            </a:endParaRPr>
          </a:p>
          <a:p>
            <a:pPr algn="l">
              <a:lnSpc>
                <a:spcPts val="1485"/>
              </a:lnSpc>
            </a:pPr>
            <a:r>
              <a:rPr sz="1100" b="0" dirty="0">
                <a:solidFill>
                  <a:srgbClr val="666666"/>
                </a:solidFill>
                <a:latin typeface="Microsoft YaHei"/>
              </a:rPr>
              <a:t>    IVF 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是平衡选择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 — 构建快（94 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ms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），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查询延迟中等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（~0.14 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ms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），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适合频繁重建索引</a:t>
            </a:r>
            <a:endParaRPr sz="1100" b="0" dirty="0">
              <a:solidFill>
                <a:srgbClr val="666666"/>
              </a:solidFill>
              <a:latin typeface="Microsoft YaHei"/>
            </a:endParaRPr>
          </a:p>
          <a:p>
            <a:pPr algn="l">
              <a:lnSpc>
                <a:spcPts val="1485"/>
              </a:lnSpc>
            </a:pPr>
            <a:r>
              <a:rPr sz="1100" b="0" dirty="0">
                <a:solidFill>
                  <a:srgbClr val="666666"/>
                </a:solidFill>
                <a:latin typeface="Microsoft YaHei"/>
              </a:rPr>
              <a:t>    Flat 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是基准对照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 — 构建极快（2 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ms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），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但查询慢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 6×（~0.58 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ms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），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仅适合小数据量</a:t>
            </a:r>
            <a:endParaRPr sz="1100" b="0" dirty="0">
              <a:solidFill>
                <a:srgbClr val="666666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项目管理与协作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Git </a:t>
            </a:r>
            <a:r>
              <a:rPr dirty="0" err="1"/>
              <a:t>仓库结构</a:t>
            </a:r>
            <a:endParaRPr dirty="0"/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● main </a:t>
            </a:r>
            <a:r>
              <a:rPr dirty="0" err="1"/>
              <a:t>分支：主分支，合并所有功能</a:t>
            </a:r>
            <a:endParaRPr dirty="0"/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● </a:t>
            </a:r>
            <a:r>
              <a:rPr dirty="0" err="1"/>
              <a:t>使用</a:t>
            </a:r>
            <a:r>
              <a:rPr dirty="0"/>
              <a:t> Pull Request </a:t>
            </a:r>
            <a:r>
              <a:rPr dirty="0" err="1"/>
              <a:t>合并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 err="1"/>
              <a:t>模块分工</a:t>
            </a: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lang="en-US" dirty="0"/>
              <a:t>	</a:t>
            </a:r>
            <a:r>
              <a:rPr dirty="0"/>
              <a:t>●</a:t>
            </a:r>
            <a:r>
              <a:rPr lang="zh-CN" altLang="en-US" dirty="0"/>
              <a:t>田子煊</a:t>
            </a:r>
            <a:r>
              <a:rPr dirty="0"/>
              <a:t>：数据加载与预处理（data_loader.py）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●</a:t>
            </a:r>
            <a:r>
              <a:rPr lang="zh-CN" altLang="en-US" dirty="0"/>
              <a:t>查科言</a:t>
            </a:r>
            <a:r>
              <a:rPr dirty="0"/>
              <a:t>：ANN 检索引擎（ann_engine.py）+ </a:t>
            </a:r>
            <a:r>
              <a:rPr dirty="0" err="1"/>
              <a:t>索引管理</a:t>
            </a:r>
            <a:endParaRPr dirty="0"/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●</a:t>
            </a:r>
            <a:r>
              <a:rPr lang="zh-CN" altLang="en-US" dirty="0"/>
              <a:t>郭思达</a:t>
            </a:r>
            <a:r>
              <a:rPr dirty="0"/>
              <a:t>：</a:t>
            </a:r>
            <a:r>
              <a:rPr dirty="0" err="1"/>
              <a:t>用户系统</a:t>
            </a:r>
            <a:r>
              <a:rPr dirty="0"/>
              <a:t> + </a:t>
            </a:r>
            <a:r>
              <a:rPr dirty="0" err="1"/>
              <a:t>数据集管理（SQLite</a:t>
            </a:r>
            <a:r>
              <a:rPr dirty="0"/>
              <a:t>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●</a:t>
            </a:r>
            <a:r>
              <a:rPr lang="zh-CN" altLang="en-US" dirty="0"/>
              <a:t>禹相祐</a:t>
            </a:r>
            <a:r>
              <a:rPr dirty="0"/>
              <a:t>：Flask API + </a:t>
            </a:r>
            <a:r>
              <a:rPr dirty="0" err="1"/>
              <a:t>前端</a:t>
            </a:r>
            <a:r>
              <a:rPr dirty="0"/>
              <a:t> Web </a:t>
            </a:r>
            <a:r>
              <a:rPr dirty="0" err="1"/>
              <a:t>界面</a:t>
            </a:r>
            <a:r>
              <a:rPr dirty="0"/>
              <a:t> + </a:t>
            </a:r>
            <a:r>
              <a:rPr dirty="0" err="1"/>
              <a:t>可视化</a:t>
            </a:r>
            <a:endParaRPr lang="en-US" dirty="0"/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lang="zh-CN" altLang="en-US" dirty="0"/>
              <a:t>●杨乔钦：</a:t>
            </a:r>
            <a:r>
              <a:rPr lang="en-US" altLang="zh-CN" dirty="0"/>
              <a:t>git</a:t>
            </a:r>
            <a:r>
              <a:rPr lang="zh-CN" altLang="en-US" dirty="0"/>
              <a:t>仓库</a:t>
            </a:r>
            <a:r>
              <a:rPr lang="en-US" altLang="zh-CN" dirty="0"/>
              <a:t>+</a:t>
            </a:r>
            <a:r>
              <a:rPr lang="zh-CN" altLang="en-US" dirty="0"/>
              <a:t>准确性和性能测试</a:t>
            </a:r>
            <a:r>
              <a:rPr lang="en-US" altLang="zh-CN" dirty="0"/>
              <a:t>+ppt</a:t>
            </a:r>
            <a:r>
              <a:rPr lang="zh-CN" altLang="en-US" dirty="0"/>
              <a:t>制作</a:t>
            </a:r>
            <a:r>
              <a:rPr lang="en-US" altLang="zh-CN" dirty="0"/>
              <a:t>+</a:t>
            </a:r>
            <a:r>
              <a:rPr lang="zh-CN" altLang="en-US" dirty="0"/>
              <a:t>视频演示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 err="1"/>
              <a:t>协作工具</a:t>
            </a:r>
            <a:endParaRPr dirty="0"/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● </a:t>
            </a:r>
            <a:r>
              <a:rPr dirty="0" err="1"/>
              <a:t>GitHub：代码托管、PR</a:t>
            </a:r>
            <a:r>
              <a:rPr dirty="0"/>
              <a:t> </a:t>
            </a:r>
            <a:r>
              <a:rPr dirty="0" err="1"/>
              <a:t>审查</a:t>
            </a:r>
            <a:endParaRPr dirty="0"/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● </a:t>
            </a:r>
            <a:r>
              <a:rPr dirty="0" err="1"/>
              <a:t>SQLite：轻量本地数据库，无需额外部署</a:t>
            </a:r>
            <a:endParaRPr dirty="0"/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rPr dirty="0"/>
              <a:t>● </a:t>
            </a:r>
            <a:r>
              <a:rPr dirty="0" err="1"/>
              <a:t>pytest：自动化测试框架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0000"/>
            <a:ext cx="9144000" cy="7920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7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DF7"/>
                </a:solidFill>
              </a:defRPr>
            </a:pPr>
            <a:r>
              <a:t>总结与展望</a:t>
            </a:r>
          </a:p>
          <a:p>
            <a:pPr>
              <a:spcBef>
                <a:spcPts val="400"/>
              </a:spcBef>
              <a:defRPr sz="1400">
                <a:solidFill>
                  <a:srgbClr val="D0D8D2"/>
                </a:solidFill>
              </a:defRPr>
            </a:pPr>
            <a:r>
              <a:t>Summary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D63"/>
                </a:solidFill>
              </a:defRPr>
            </a:pPr>
            <a: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9144000" cy="28800"/>
          </a:xfrm>
          <a:prstGeom prst="rect">
            <a:avLst/>
          </a:prstGeom>
          <a:solidFill>
            <a:srgbClr val="0F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5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✅ 已完成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完整的 ANN 检索系统：数据加载 → PCA → 索引构建 → 查询 → 可视化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Flat / HNSW / IVF 三种索引，全部集成并可运行时切换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真实 liver.h5ad 数据集（69,032 细胞）验证通过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HNSW 查询延迟仅 0.09 ms，recall@10 = 1.0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102 个自动化测试全部通过 + 性能 benchmark 体系</a:t>
            </a:r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📌 后续工作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支持运行时动态切换数据集（/api/load-data）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 FAISS GPU 支持，加速大规模数据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增加批量查询接口</a:t>
            </a:r>
          </a:p>
          <a:p>
            <a:pPr lvl="1">
              <a:spcAft>
                <a:spcPts val="600"/>
              </a:spcAft>
              <a:defRPr sz="1300">
                <a:solidFill>
                  <a:srgbClr val="111814"/>
                </a:solidFill>
              </a:defRPr>
            </a:pPr>
            <a:r>
              <a:t>● 增加 recall 调节参数（调大 efSearch/nprobe 换取更高召回）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1397</Words>
  <Application>Microsoft Office PowerPoint</Application>
  <PresentationFormat>全屏显示(4:3)</PresentationFormat>
  <Paragraphs>340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乔钦 杨</cp:lastModifiedBy>
  <cp:revision>4</cp:revision>
  <dcterms:created xsi:type="dcterms:W3CDTF">2013-01-27T09:14:16Z</dcterms:created>
  <dcterms:modified xsi:type="dcterms:W3CDTF">2026-06-03T08:56:45Z</dcterms:modified>
  <cp:category/>
</cp:coreProperties>
</file>